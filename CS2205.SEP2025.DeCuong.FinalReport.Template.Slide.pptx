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Lst>
  <p:sldSz cy="5143500" cx="9144000"/>
  <p:notesSz cx="6858000" cy="9144000"/>
  <p:embeddedFontLst>
    <p:embeddedFont>
      <p:font typeface="Roboto"/>
      <p:regular r:id="rId14"/>
      <p:bold r:id="rId15"/>
      <p:italic r:id="rId16"/>
      <p:boldItalic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Roboto-bold.fntdata"/><Relationship Id="rId14" Type="http://schemas.openxmlformats.org/officeDocument/2006/relationships/font" Target="fonts/Roboto-regular.fntdata"/><Relationship Id="rId17" Type="http://schemas.openxmlformats.org/officeDocument/2006/relationships/font" Target="fonts/Roboto-boldItalic.fntdata"/><Relationship Id="rId16" Type="http://schemas.openxmlformats.org/officeDocument/2006/relationships/font" Target="fonts/Roboto-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10d8a3913ea_0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10d8a3913e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10d8a3913ea_0_6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10d8a3913ea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5fe14d3b49_0_3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5fe14d3b49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10d8a3913ea_0_12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10d8a3913ea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ab3644b788_0_13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ab3644b788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10d8a3913ea_0_12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10d8a3913ea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1200"/>
              </a:spcBef>
              <a:spcAft>
                <a:spcPts val="1200"/>
              </a:spcAft>
              <a:buNone/>
            </a:pPr>
            <a:r>
              <a:rPr lang="en" sz="1400">
                <a:solidFill>
                  <a:schemeClr val="dk1"/>
                </a:solidFill>
                <a:latin typeface="Times New Roman"/>
                <a:ea typeface="Times New Roman"/>
                <a:cs typeface="Times New Roman"/>
                <a:sym typeface="Times New Roman"/>
              </a:rPr>
              <a:t>Noise Feature Extraction</a:t>
            </a:r>
            <a:r>
              <a:rPr lang="en" sz="1400">
                <a:solidFill>
                  <a:schemeClr val="dk1"/>
                </a:solidFill>
                <a:latin typeface="Times New Roman"/>
                <a:ea typeface="Times New Roman"/>
                <a:cs typeface="Times New Roman"/>
                <a:sym typeface="Times New Roman"/>
              </a:rPr>
              <a:t> sẽ giúp nhìn vào cấu trúc thống kê của pixel để phát hiện bất thường về vật lý ảnh mà Semantic Feature có thể bỏ qua.</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ab3644b788_0_15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ab3644b788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solidFill>
                  <a:schemeClr val="dk1"/>
                </a:solidFill>
              </a:rPr>
              <a:t>Attention Gate giúp mạng tập trung sự chú ý vào các đặc trưng tần số cao hoặc sự bất thường về nhiễu tại các vùng nghi vấn, và lờ đi các chi tiết phức tạp của hình ảnh gốc</a:t>
            </a:r>
            <a:endParaRPr sz="1400"/>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10d8a3913ea_0_13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10d8a3913ea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10d8a3913ea_0_13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10d8a3913ea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R01" type="title">
  <p:cSld name="TITLE">
    <p:spTree>
      <p:nvGrpSpPr>
        <p:cNvPr id="9"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8246400" y="4245875"/>
            <a:ext cx="897600" cy="897600"/>
          </a:xfrm>
          <a:prstGeom prst="round1Rect">
            <a:avLst>
              <a:gd fmla="val 16667" name="adj"/>
            </a:avLst>
          </a:prstGeom>
          <a:solidFill>
            <a:schemeClr val="lt1">
              <a:alpha val="680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90525" y="1819275"/>
            <a:ext cx="8222100" cy="933600"/>
          </a:xfrm>
          <a:prstGeom prst="rect">
            <a:avLst/>
          </a:prstGeom>
        </p:spPr>
        <p:txBody>
          <a:bodyPr anchorCtr="0" anchor="b"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3" name="Google Shape;13;p2"/>
          <p:cNvSpPr txBox="1"/>
          <p:nvPr>
            <p:ph idx="1" type="subTitle"/>
          </p:nvPr>
        </p:nvSpPr>
        <p:spPr>
          <a:xfrm>
            <a:off x="390525" y="2789130"/>
            <a:ext cx="8222100" cy="432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R01" type="secHead">
  <p:cSld name="SECTION_HEADER">
    <p:spTree>
      <p:nvGrpSpPr>
        <p:cNvPr id="14" name="Shape 14"/>
        <p:cNvGrpSpPr/>
        <p:nvPr/>
      </p:nvGrpSpPr>
      <p:grpSpPr>
        <a:xfrm>
          <a:off x="0" y="0"/>
          <a:ext cx="0" cy="0"/>
          <a:chOff x="0" y="0"/>
          <a:chExt cx="0" cy="0"/>
        </a:xfrm>
      </p:grpSpPr>
      <p:sp>
        <p:nvSpPr>
          <p:cNvPr id="15" name="Google Shape;15;p3"/>
          <p:cNvSpPr txBox="1"/>
          <p:nvPr>
            <p:ph type="title"/>
          </p:nvPr>
        </p:nvSpPr>
        <p:spPr>
          <a:xfrm>
            <a:off x="460950" y="2065350"/>
            <a:ext cx="8222100" cy="10128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6" name="Google Shape;16;p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sz="1300"/>
            </a:lvl1pPr>
            <a:lvl2pPr lvl="1">
              <a:buNone/>
              <a:defRPr sz="1300"/>
            </a:lvl2pPr>
            <a:lvl3pPr lvl="2">
              <a:buNone/>
              <a:defRPr sz="1300"/>
            </a:lvl3pPr>
            <a:lvl4pPr lvl="3">
              <a:buNone/>
              <a:defRPr sz="1300"/>
            </a:lvl4pPr>
            <a:lvl5pPr lvl="4">
              <a:buNone/>
              <a:defRPr sz="1300"/>
            </a:lvl5pPr>
            <a:lvl6pPr lvl="5">
              <a:buNone/>
              <a:defRPr sz="1300"/>
            </a:lvl6pPr>
            <a:lvl7pPr lvl="6">
              <a:buNone/>
              <a:defRPr sz="1300"/>
            </a:lvl7pPr>
            <a:lvl8pPr lvl="7">
              <a:buNone/>
              <a:defRPr sz="1300"/>
            </a:lvl8pPr>
            <a:lvl9pPr lvl="8">
              <a:buNone/>
              <a:defRPr sz="1300"/>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R01" type="tx">
  <p:cSld name="TITLE_AND_BODY">
    <p:spTree>
      <p:nvGrpSpPr>
        <p:cNvPr id="17" name="Shape 17"/>
        <p:cNvGrpSpPr/>
        <p:nvPr/>
      </p:nvGrpSpPr>
      <p:grpSpPr>
        <a:xfrm>
          <a:off x="0" y="0"/>
          <a:ext cx="0" cy="0"/>
          <a:chOff x="0" y="0"/>
          <a:chExt cx="0" cy="0"/>
        </a:xfrm>
      </p:grpSpPr>
      <p:sp>
        <p:nvSpPr>
          <p:cNvPr id="18" name="Google Shape;18;p4"/>
          <p:cNvSpPr/>
          <p:nvPr/>
        </p:nvSpPr>
        <p:spPr>
          <a:xfrm flipH="1" rot="10800000">
            <a:off x="0" y="728400"/>
            <a:ext cx="9144000" cy="40854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4"/>
          <p:cNvSpPr/>
          <p:nvPr/>
        </p:nvSpPr>
        <p:spPr>
          <a:xfrm>
            <a:off x="0" y="711888"/>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txBox="1"/>
          <p:nvPr>
            <p:ph type="title"/>
          </p:nvPr>
        </p:nvSpPr>
        <p:spPr>
          <a:xfrm>
            <a:off x="471900" y="57875"/>
            <a:ext cx="8222100" cy="670500"/>
          </a:xfrm>
          <a:prstGeom prst="rect">
            <a:avLst/>
          </a:prstGeom>
        </p:spPr>
        <p:txBody>
          <a:bodyPr anchorCtr="0" anchor="b"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1" name="Google Shape;21;p4"/>
          <p:cNvSpPr txBox="1"/>
          <p:nvPr>
            <p:ph idx="1" type="body"/>
          </p:nvPr>
        </p:nvSpPr>
        <p:spPr>
          <a:xfrm>
            <a:off x="471900" y="820500"/>
            <a:ext cx="8222100" cy="3908400"/>
          </a:xfrm>
          <a:prstGeom prst="rect">
            <a:avLst/>
          </a:prstGeom>
        </p:spPr>
        <p:txBody>
          <a:bodyPr anchorCtr="0" anchor="t" bIns="91425" lIns="91425" spcFirstLastPara="1" rIns="91425" wrap="square" tIns="91425">
            <a:noAutofit/>
          </a:bodyPr>
          <a:lstStyle>
            <a:lvl1pPr indent="-368300" lvl="0" marL="457200">
              <a:spcBef>
                <a:spcPts val="0"/>
              </a:spcBef>
              <a:spcAft>
                <a:spcPts val="0"/>
              </a:spcAft>
              <a:buClr>
                <a:srgbClr val="000000"/>
              </a:buClr>
              <a:buSzPts val="2200"/>
              <a:buChar char="●"/>
              <a:defRPr sz="2200">
                <a:solidFill>
                  <a:srgbClr val="000000"/>
                </a:solidFill>
              </a:defRPr>
            </a:lvl1pPr>
            <a:lvl2pPr indent="-355600" lvl="1" marL="914400">
              <a:spcBef>
                <a:spcPts val="1600"/>
              </a:spcBef>
              <a:spcAft>
                <a:spcPts val="0"/>
              </a:spcAft>
              <a:buClr>
                <a:srgbClr val="000000"/>
              </a:buClr>
              <a:buSzPts val="2000"/>
              <a:buChar char="○"/>
              <a:defRPr sz="2000">
                <a:solidFill>
                  <a:srgbClr val="000000"/>
                </a:solidFill>
              </a:defRPr>
            </a:lvl2pPr>
            <a:lvl3pPr indent="-342900" lvl="2" marL="1371600">
              <a:spcBef>
                <a:spcPts val="1600"/>
              </a:spcBef>
              <a:spcAft>
                <a:spcPts val="0"/>
              </a:spcAft>
              <a:buClr>
                <a:srgbClr val="000000"/>
              </a:buClr>
              <a:buSzPts val="1800"/>
              <a:buChar char="■"/>
              <a:defRPr sz="1800">
                <a:solidFill>
                  <a:srgbClr val="000000"/>
                </a:solidFill>
              </a:defRPr>
            </a:lvl3pPr>
            <a:lvl4pPr indent="-330200" lvl="3" marL="1828800">
              <a:spcBef>
                <a:spcPts val="1600"/>
              </a:spcBef>
              <a:spcAft>
                <a:spcPts val="0"/>
              </a:spcAft>
              <a:buClr>
                <a:srgbClr val="000000"/>
              </a:buClr>
              <a:buSzPts val="1600"/>
              <a:buChar char="●"/>
              <a:defRPr sz="1600">
                <a:solidFill>
                  <a:srgbClr val="000000"/>
                </a:solidFill>
              </a:defRPr>
            </a:lvl4pPr>
            <a:lvl5pPr indent="-317500" lvl="4" marL="2286000">
              <a:spcBef>
                <a:spcPts val="1600"/>
              </a:spcBef>
              <a:spcAft>
                <a:spcPts val="0"/>
              </a:spcAft>
              <a:buClr>
                <a:srgbClr val="000000"/>
              </a:buClr>
              <a:buSzPts val="1400"/>
              <a:buChar char="○"/>
              <a:defRPr>
                <a:solidFill>
                  <a:srgbClr val="000000"/>
                </a:solidFill>
              </a:defRPr>
            </a:lvl5pPr>
            <a:lvl6pPr indent="-317500" lvl="5" marL="2743200">
              <a:spcBef>
                <a:spcPts val="1600"/>
              </a:spcBef>
              <a:spcAft>
                <a:spcPts val="0"/>
              </a:spcAft>
              <a:buClr>
                <a:srgbClr val="000000"/>
              </a:buClr>
              <a:buSzPts val="1400"/>
              <a:buChar char="■"/>
              <a:defRPr>
                <a:solidFill>
                  <a:srgbClr val="000000"/>
                </a:solidFill>
              </a:defRPr>
            </a:lvl6pPr>
            <a:lvl7pPr indent="-317500" lvl="6" marL="3200400">
              <a:spcBef>
                <a:spcPts val="1600"/>
              </a:spcBef>
              <a:spcAft>
                <a:spcPts val="0"/>
              </a:spcAft>
              <a:buClr>
                <a:srgbClr val="000000"/>
              </a:buClr>
              <a:buSzPts val="1400"/>
              <a:buChar char="●"/>
              <a:defRPr>
                <a:solidFill>
                  <a:srgbClr val="000000"/>
                </a:solidFill>
              </a:defRPr>
            </a:lvl7pPr>
            <a:lvl8pPr indent="-317500" lvl="7" marL="3657600">
              <a:spcBef>
                <a:spcPts val="1600"/>
              </a:spcBef>
              <a:spcAft>
                <a:spcPts val="0"/>
              </a:spcAft>
              <a:buClr>
                <a:srgbClr val="000000"/>
              </a:buClr>
              <a:buSzPts val="1400"/>
              <a:buChar char="○"/>
              <a:defRPr>
                <a:solidFill>
                  <a:srgbClr val="000000"/>
                </a:solidFill>
              </a:defRPr>
            </a:lvl8pPr>
            <a:lvl9pPr indent="-317500" lvl="8" marL="4114800">
              <a:spcBef>
                <a:spcPts val="1600"/>
              </a:spcBef>
              <a:spcAft>
                <a:spcPts val="1600"/>
              </a:spcAft>
              <a:buSzPts val="1400"/>
              <a:buChar char="■"/>
              <a:defRPr/>
            </a:lvl9pPr>
          </a:lstStyle>
          <a:p/>
        </p:txBody>
      </p:sp>
      <p:sp>
        <p:nvSpPr>
          <p:cNvPr id="22" name="Google Shape;22;p4"/>
          <p:cNvSpPr txBox="1"/>
          <p:nvPr>
            <p:ph idx="12" type="sldNum"/>
          </p:nvPr>
        </p:nvSpPr>
        <p:spPr>
          <a:xfrm>
            <a:off x="8523550" y="4813799"/>
            <a:ext cx="548700" cy="2754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3" name="Google Shape;23;p4"/>
          <p:cNvSpPr txBox="1"/>
          <p:nvPr/>
        </p:nvSpPr>
        <p:spPr>
          <a:xfrm>
            <a:off x="471900" y="4803525"/>
            <a:ext cx="8133300" cy="296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rgbClr val="FFFFFF"/>
                </a:solidFill>
                <a:latin typeface="Roboto"/>
                <a:ea typeface="Roboto"/>
                <a:cs typeface="Roboto"/>
                <a:sym typeface="Roboto"/>
              </a:rPr>
              <a:t>UIT.CS2205.ResearchMethodology</a:t>
            </a:r>
            <a:endParaRPr b="1">
              <a:solidFill>
                <a:srgbClr val="FFFFFF"/>
              </a:solidFill>
              <a:latin typeface="Roboto"/>
              <a:ea typeface="Roboto"/>
              <a:cs typeface="Roboto"/>
              <a:sym typeface="Roboto"/>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8" name="Google Shape;28;p5"/>
          <p:cNvSpPr txBox="1"/>
          <p:nvPr>
            <p:ph idx="1" type="body"/>
          </p:nvPr>
        </p:nvSpPr>
        <p:spPr>
          <a:xfrm>
            <a:off x="471900" y="1919075"/>
            <a:ext cx="3999900" cy="2710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9" name="Google Shape;29;p5"/>
          <p:cNvSpPr txBox="1"/>
          <p:nvPr>
            <p:ph idx="2" type="body"/>
          </p:nvPr>
        </p:nvSpPr>
        <p:spPr>
          <a:xfrm>
            <a:off x="4694250" y="1919075"/>
            <a:ext cx="3999900" cy="2710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0" name="Google Shape;30;p5"/>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p:nvPr/>
        </p:nvSpPr>
        <p:spPr>
          <a:xfrm flipH="1" rot="10800000">
            <a:off x="0" y="656400"/>
            <a:ext cx="9144000" cy="4487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98250" y="16350"/>
            <a:ext cx="8826600" cy="602700"/>
          </a:xfrm>
          <a:prstGeom prst="rect">
            <a:avLst/>
          </a:prstGeom>
        </p:spPr>
        <p:txBody>
          <a:bodyPr anchorCtr="0" anchor="ctr"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5" name="Google Shape;35;p6"/>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txBox="1"/>
          <p:nvPr/>
        </p:nvSpPr>
        <p:spPr>
          <a:xfrm flipH="1" rot="10800000">
            <a:off x="3276600" y="25"/>
            <a:ext cx="58674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7"/>
          <p:cNvSpPr txBox="1"/>
          <p:nvPr>
            <p:ph type="title"/>
          </p:nvPr>
        </p:nvSpPr>
        <p:spPr>
          <a:xfrm>
            <a:off x="226078" y="357800"/>
            <a:ext cx="2808000" cy="9534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226075" y="1465800"/>
            <a:ext cx="2808000" cy="3163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1600"/>
              </a:spcBef>
              <a:spcAft>
                <a:spcPts val="0"/>
              </a:spcAft>
              <a:buClr>
                <a:schemeClr val="lt1"/>
              </a:buClr>
              <a:buSzPts val="1200"/>
              <a:buChar char="○"/>
              <a:defRPr sz="1200">
                <a:solidFill>
                  <a:schemeClr val="lt1"/>
                </a:solidFill>
              </a:defRPr>
            </a:lvl2pPr>
            <a:lvl3pPr indent="-304800" lvl="2" marL="1371600">
              <a:spcBef>
                <a:spcPts val="1600"/>
              </a:spcBef>
              <a:spcAft>
                <a:spcPts val="0"/>
              </a:spcAft>
              <a:buClr>
                <a:schemeClr val="lt1"/>
              </a:buClr>
              <a:buSzPts val="1200"/>
              <a:buChar char="■"/>
              <a:defRPr sz="1200">
                <a:solidFill>
                  <a:schemeClr val="lt1"/>
                </a:solidFill>
              </a:defRPr>
            </a:lvl3pPr>
            <a:lvl4pPr indent="-304800" lvl="3" marL="1828800">
              <a:spcBef>
                <a:spcPts val="1600"/>
              </a:spcBef>
              <a:spcAft>
                <a:spcPts val="0"/>
              </a:spcAft>
              <a:buClr>
                <a:schemeClr val="lt1"/>
              </a:buClr>
              <a:buSzPts val="1200"/>
              <a:buChar char="●"/>
              <a:defRPr sz="1200">
                <a:solidFill>
                  <a:schemeClr val="lt1"/>
                </a:solidFill>
              </a:defRPr>
            </a:lvl4pPr>
            <a:lvl5pPr indent="-304800" lvl="4" marL="2286000">
              <a:spcBef>
                <a:spcPts val="1600"/>
              </a:spcBef>
              <a:spcAft>
                <a:spcPts val="0"/>
              </a:spcAft>
              <a:buClr>
                <a:schemeClr val="lt1"/>
              </a:buClr>
              <a:buSzPts val="1200"/>
              <a:buChar char="○"/>
              <a:defRPr sz="1200">
                <a:solidFill>
                  <a:schemeClr val="lt1"/>
                </a:solidFill>
              </a:defRPr>
            </a:lvl5pPr>
            <a:lvl6pPr indent="-304800" lvl="5" marL="2743200">
              <a:spcBef>
                <a:spcPts val="1600"/>
              </a:spcBef>
              <a:spcAft>
                <a:spcPts val="0"/>
              </a:spcAft>
              <a:buClr>
                <a:schemeClr val="lt1"/>
              </a:buClr>
              <a:buSzPts val="1200"/>
              <a:buChar char="■"/>
              <a:defRPr sz="1200">
                <a:solidFill>
                  <a:schemeClr val="lt1"/>
                </a:solidFill>
              </a:defRPr>
            </a:lvl6pPr>
            <a:lvl7pPr indent="-304800" lvl="6" marL="3200400">
              <a:spcBef>
                <a:spcPts val="1600"/>
              </a:spcBef>
              <a:spcAft>
                <a:spcPts val="0"/>
              </a:spcAft>
              <a:buClr>
                <a:schemeClr val="lt1"/>
              </a:buClr>
              <a:buSzPts val="1200"/>
              <a:buChar char="●"/>
              <a:defRPr sz="1200">
                <a:solidFill>
                  <a:schemeClr val="lt1"/>
                </a:solidFill>
              </a:defRPr>
            </a:lvl7pPr>
            <a:lvl8pPr indent="-304800" lvl="7" marL="3657600">
              <a:spcBef>
                <a:spcPts val="1600"/>
              </a:spcBef>
              <a:spcAft>
                <a:spcPts val="0"/>
              </a:spcAft>
              <a:buClr>
                <a:schemeClr val="lt1"/>
              </a:buClr>
              <a:buSzPts val="1200"/>
              <a:buChar char="○"/>
              <a:defRPr sz="1200">
                <a:solidFill>
                  <a:schemeClr val="lt1"/>
                </a:solidFill>
              </a:defRPr>
            </a:lvl8pPr>
            <a:lvl9pPr indent="-304800" lvl="8" marL="4114800">
              <a:spcBef>
                <a:spcPts val="1600"/>
              </a:spcBef>
              <a:spcAft>
                <a:spcPts val="1600"/>
              </a:spcAft>
              <a:buClr>
                <a:schemeClr val="lt1"/>
              </a:buClr>
              <a:buSzPts val="1200"/>
              <a:buChar char="■"/>
              <a:defRPr sz="1200">
                <a:solidFill>
                  <a:schemeClr val="lt1"/>
                </a:solidFill>
              </a:defRPr>
            </a:lvl9pPr>
          </a:lstStyle>
          <a:p/>
        </p:txBody>
      </p:sp>
      <p:sp>
        <p:nvSpPr>
          <p:cNvPr id="41" name="Google Shape;41;p7"/>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2" name="Shape 42"/>
        <p:cNvGrpSpPr/>
        <p:nvPr/>
      </p:nvGrpSpPr>
      <p:grpSpPr>
        <a:xfrm>
          <a:off x="0" y="0"/>
          <a:ext cx="0" cy="0"/>
          <a:chOff x="0" y="0"/>
          <a:chExt cx="0" cy="0"/>
        </a:xfrm>
      </p:grpSpPr>
      <p:sp>
        <p:nvSpPr>
          <p:cNvPr id="43" name="Google Shape;43;p8"/>
          <p:cNvSpPr txBox="1"/>
          <p:nvPr>
            <p:ph type="title"/>
          </p:nvPr>
        </p:nvSpPr>
        <p:spPr>
          <a:xfrm>
            <a:off x="490250" y="488250"/>
            <a:ext cx="62271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4" name="Google Shape;44;p8"/>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flipH="1">
            <a:off x="0" y="0"/>
            <a:ext cx="4572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p:txBody>
      </p:sp>
      <p:sp>
        <p:nvSpPr>
          <p:cNvPr id="49" name="Google Shape;49;p9"/>
          <p:cNvSpPr txBox="1"/>
          <p:nvPr>
            <p:ph idx="1" type="subTitle"/>
          </p:nvPr>
        </p:nvSpPr>
        <p:spPr>
          <a:xfrm>
            <a:off x="265500" y="2779467"/>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1600"/>
              </a:spcBef>
              <a:spcAft>
                <a:spcPts val="0"/>
              </a:spcAft>
              <a:buClr>
                <a:schemeClr val="lt1"/>
              </a:buClr>
              <a:buSzPts val="1400"/>
              <a:buChar char="○"/>
              <a:defRPr>
                <a:solidFill>
                  <a:schemeClr val="lt1"/>
                </a:solidFill>
              </a:defRPr>
            </a:lvl2pPr>
            <a:lvl3pPr indent="-317500" lvl="2" marL="1371600">
              <a:spcBef>
                <a:spcPts val="1600"/>
              </a:spcBef>
              <a:spcAft>
                <a:spcPts val="0"/>
              </a:spcAft>
              <a:buClr>
                <a:schemeClr val="lt1"/>
              </a:buClr>
              <a:buSzPts val="1400"/>
              <a:buChar char="■"/>
              <a:defRPr>
                <a:solidFill>
                  <a:schemeClr val="lt1"/>
                </a:solidFill>
              </a:defRPr>
            </a:lvl3pPr>
            <a:lvl4pPr indent="-317500" lvl="3" marL="1828800">
              <a:spcBef>
                <a:spcPts val="1600"/>
              </a:spcBef>
              <a:spcAft>
                <a:spcPts val="0"/>
              </a:spcAft>
              <a:buClr>
                <a:schemeClr val="lt1"/>
              </a:buClr>
              <a:buSzPts val="1400"/>
              <a:buChar char="●"/>
              <a:defRPr>
                <a:solidFill>
                  <a:schemeClr val="lt1"/>
                </a:solidFill>
              </a:defRPr>
            </a:lvl4pPr>
            <a:lvl5pPr indent="-317500" lvl="4" marL="2286000">
              <a:spcBef>
                <a:spcPts val="1600"/>
              </a:spcBef>
              <a:spcAft>
                <a:spcPts val="0"/>
              </a:spcAft>
              <a:buClr>
                <a:schemeClr val="lt1"/>
              </a:buClr>
              <a:buSzPts val="1400"/>
              <a:buChar char="○"/>
              <a:defRPr>
                <a:solidFill>
                  <a:schemeClr val="lt1"/>
                </a:solidFill>
              </a:defRPr>
            </a:lvl5pPr>
            <a:lvl6pPr indent="-317500" lvl="5" marL="2743200">
              <a:spcBef>
                <a:spcPts val="1600"/>
              </a:spcBef>
              <a:spcAft>
                <a:spcPts val="0"/>
              </a:spcAft>
              <a:buClr>
                <a:schemeClr val="lt1"/>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nvSpPr>
        <p:spPr>
          <a:xfrm flipH="1" rot="10800000">
            <a:off x="0" y="0"/>
            <a:ext cx="9144000" cy="4695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0"/>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0"/>
          <p:cNvSpPr txBox="1"/>
          <p:nvPr>
            <p:ph idx="1" type="body"/>
          </p:nvPr>
        </p:nvSpPr>
        <p:spPr>
          <a:xfrm>
            <a:off x="57150" y="4163425"/>
            <a:ext cx="8382000" cy="4467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Clr>
                <a:schemeClr val="lt1"/>
              </a:buClr>
              <a:buSzPts val="1200"/>
              <a:buNone/>
              <a:defRPr sz="1200">
                <a:solidFill>
                  <a:schemeClr val="lt1"/>
                </a:solidFill>
              </a:defRPr>
            </a:lvl1pPr>
          </a:lstStyle>
          <a:p/>
        </p:txBody>
      </p:sp>
      <p:sp>
        <p:nvSpPr>
          <p:cNvPr id="56" name="Google Shape;56;p10"/>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4"/>
        </a:solidFill>
      </p:bgPr>
    </p:bg>
    <p:spTree>
      <p:nvGrpSpPr>
        <p:cNvPr id="57" name="Shape 57"/>
        <p:cNvGrpSpPr/>
        <p:nvPr/>
      </p:nvGrpSpPr>
      <p:grpSpPr>
        <a:xfrm>
          <a:off x="0" y="0"/>
          <a:ext cx="0" cy="0"/>
          <a:chOff x="0" y="0"/>
          <a:chExt cx="0" cy="0"/>
        </a:xfrm>
      </p:grpSpPr>
      <p:sp>
        <p:nvSpPr>
          <p:cNvPr id="58" name="Google Shape;58;p11"/>
          <p:cNvSpPr txBox="1"/>
          <p:nvPr>
            <p:ph hasCustomPrompt="1" type="title"/>
          </p:nvPr>
        </p:nvSpPr>
        <p:spPr>
          <a:xfrm>
            <a:off x="475500" y="1258525"/>
            <a:ext cx="8222100" cy="19635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dk2"/>
              </a:buClr>
              <a:buSzPts val="12000"/>
              <a:buNone/>
              <a:defRPr sz="12000">
                <a:solidFill>
                  <a:schemeClr val="dk2"/>
                </a:solidFill>
              </a:defRPr>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59" name="Google Shape;59;p11"/>
          <p:cNvSpPr txBox="1"/>
          <p:nvPr>
            <p:ph idx="1" type="body"/>
          </p:nvPr>
        </p:nvSpPr>
        <p:spPr>
          <a:xfrm>
            <a:off x="475500" y="3304625"/>
            <a:ext cx="82221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60" name="Google Shape;60;p11"/>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4"/>
        </a:solidFill>
      </p:bgPr>
    </p:bg>
    <p:spTree>
      <p:nvGrpSpPr>
        <p:cNvPr id="61" name="Shape 61"/>
        <p:cNvGrpSpPr/>
        <p:nvPr/>
      </p:nvGrpSpPr>
      <p:grpSpPr>
        <a:xfrm>
          <a:off x="0" y="0"/>
          <a:ext cx="0" cy="0"/>
          <a:chOff x="0" y="0"/>
          <a:chExt cx="0" cy="0"/>
        </a:xfrm>
      </p:grpSpPr>
      <p:sp>
        <p:nvSpPr>
          <p:cNvPr id="62" name="Google Shape;62;p12"/>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p:txBody>
      </p:sp>
      <p:sp>
        <p:nvSpPr>
          <p:cNvPr id="7" name="Google Shape;7;p1"/>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lt2"/>
              </a:buClr>
              <a:buSzPts val="1800"/>
              <a:buFont typeface="Roboto"/>
              <a:buChar char="●"/>
              <a:defRPr sz="1800">
                <a:solidFill>
                  <a:schemeClr val="lt2"/>
                </a:solidFill>
                <a:latin typeface="Roboto"/>
                <a:ea typeface="Roboto"/>
                <a:cs typeface="Roboto"/>
                <a:sym typeface="Roboto"/>
              </a:defRPr>
            </a:lvl1pPr>
            <a:lvl2pPr indent="-317500" lvl="1" marL="9144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2pPr>
            <a:lvl3pPr indent="-317500" lvl="2" marL="13716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3pPr>
            <a:lvl4pPr indent="-317500" lvl="3" marL="18288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4pPr>
            <a:lvl5pPr indent="-317500" lvl="4" marL="22860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5pPr>
            <a:lvl6pPr indent="-317500" lvl="5" marL="27432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6pPr>
            <a:lvl7pPr indent="-317500" lvl="6" marL="32004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7pPr>
            <a:lvl8pPr indent="-317500" lvl="7" marL="36576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8pPr>
            <a:lvl9pPr indent="-317500" lvl="8" marL="4114800">
              <a:lnSpc>
                <a:spcPct val="115000"/>
              </a:lnSpc>
              <a:spcBef>
                <a:spcPts val="1600"/>
              </a:spcBef>
              <a:spcAft>
                <a:spcPts val="1600"/>
              </a:spcAft>
              <a:buClr>
                <a:schemeClr val="lt2"/>
              </a:buClr>
              <a:buSzPts val="1400"/>
              <a:buFont typeface="Roboto"/>
              <a:buChar char="■"/>
              <a:defRPr>
                <a:solidFill>
                  <a:schemeClr val="lt2"/>
                </a:solidFill>
                <a:latin typeface="Roboto"/>
                <a:ea typeface="Roboto"/>
                <a:cs typeface="Roboto"/>
                <a:sym typeface="Roboto"/>
              </a:defRPr>
            </a:lvl9pPr>
          </a:lstStyle>
          <a:p/>
        </p:txBody>
      </p:sp>
      <p:sp>
        <p:nvSpPr>
          <p:cNvPr id="8" name="Google Shape;8;p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7.png"/><Relationship Id="rId5"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0.png"/><Relationship Id="rId4" Type="http://schemas.openxmlformats.org/officeDocument/2006/relationships/hyperlink" Target="https://arxiv.org/pdf/1804.03999"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3C47D"/>
        </a:solidFill>
      </p:bgPr>
    </p:bg>
    <p:spTree>
      <p:nvGrpSpPr>
        <p:cNvPr id="66" name="Shape 66"/>
        <p:cNvGrpSpPr/>
        <p:nvPr/>
      </p:nvGrpSpPr>
      <p:grpSpPr>
        <a:xfrm>
          <a:off x="0" y="0"/>
          <a:ext cx="0" cy="0"/>
          <a:chOff x="0" y="0"/>
          <a:chExt cx="0" cy="0"/>
        </a:xfrm>
      </p:grpSpPr>
      <p:sp>
        <p:nvSpPr>
          <p:cNvPr id="67" name="Google Shape;67;p13"/>
          <p:cNvSpPr txBox="1"/>
          <p:nvPr>
            <p:ph type="title"/>
          </p:nvPr>
        </p:nvSpPr>
        <p:spPr>
          <a:xfrm>
            <a:off x="460950" y="500200"/>
            <a:ext cx="8222100" cy="1702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3000"/>
              <a:t>ATTENTION U-NET KẾT HỢP PHÂN TÍCH NHIỄU ĐỂ PHÂN ĐOẠN VÙNG GIẢ MẠO TRÊN ẢNH HÓA ĐƠN</a:t>
            </a:r>
            <a:endParaRPr b="1" sz="3000"/>
          </a:p>
        </p:txBody>
      </p:sp>
      <p:sp>
        <p:nvSpPr>
          <p:cNvPr id="68" name="Google Shape;68;p13"/>
          <p:cNvSpPr txBox="1"/>
          <p:nvPr>
            <p:ph type="title"/>
          </p:nvPr>
        </p:nvSpPr>
        <p:spPr>
          <a:xfrm>
            <a:off x="635375" y="2781825"/>
            <a:ext cx="8117100" cy="1510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400"/>
              <a:t>GVHD: PGS. TS. Lê Đình Duy</a:t>
            </a:r>
            <a:endParaRPr b="1" sz="2400"/>
          </a:p>
          <a:p>
            <a:pPr indent="0" lvl="0" marL="0" rtl="0" algn="l">
              <a:spcBef>
                <a:spcPts val="0"/>
              </a:spcBef>
              <a:spcAft>
                <a:spcPts val="0"/>
              </a:spcAft>
              <a:buNone/>
            </a:pPr>
            <a:r>
              <a:rPr b="1" lang="en" sz="2400"/>
              <a:t> </a:t>
            </a:r>
            <a:endParaRPr b="1" sz="2400"/>
          </a:p>
          <a:p>
            <a:pPr indent="0" lvl="0" marL="0" rtl="0" algn="l">
              <a:spcBef>
                <a:spcPts val="0"/>
              </a:spcBef>
              <a:spcAft>
                <a:spcPts val="0"/>
              </a:spcAft>
              <a:buNone/>
            </a:pPr>
            <a:r>
              <a:rPr b="1" lang="en" sz="2400"/>
              <a:t>Học viên: Huỳnh Thiên Phước</a:t>
            </a:r>
            <a:r>
              <a:rPr b="1" lang="en" sz="2400"/>
              <a:t> - 250101052</a:t>
            </a:r>
            <a:endParaRPr b="1"/>
          </a:p>
        </p:txBody>
      </p:sp>
      <p:sp>
        <p:nvSpPr>
          <p:cNvPr id="69" name="Google Shape;69;p1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3C47D"/>
        </a:solidFill>
      </p:bgPr>
    </p:bg>
    <p:spTree>
      <p:nvGrpSpPr>
        <p:cNvPr id="73" name="Shape 73"/>
        <p:cNvGrpSpPr/>
        <p:nvPr/>
      </p:nvGrpSpPr>
      <p:grpSpPr>
        <a:xfrm>
          <a:off x="0" y="0"/>
          <a:ext cx="0" cy="0"/>
          <a:chOff x="0" y="0"/>
          <a:chExt cx="0" cy="0"/>
        </a:xfrm>
      </p:grpSpPr>
      <p:sp>
        <p:nvSpPr>
          <p:cNvPr id="74" name="Google Shape;74;p14"/>
          <p:cNvSpPr txBox="1"/>
          <p:nvPr>
            <p:ph type="title"/>
          </p:nvPr>
        </p:nvSpPr>
        <p:spPr>
          <a:xfrm>
            <a:off x="471900" y="57875"/>
            <a:ext cx="8222100" cy="670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a:t>Tóm tắt </a:t>
            </a:r>
            <a:endParaRPr/>
          </a:p>
        </p:txBody>
      </p:sp>
      <p:sp>
        <p:nvSpPr>
          <p:cNvPr id="75" name="Google Shape;75;p14"/>
          <p:cNvSpPr txBox="1"/>
          <p:nvPr>
            <p:ph idx="1" type="body"/>
          </p:nvPr>
        </p:nvSpPr>
        <p:spPr>
          <a:xfrm>
            <a:off x="471900" y="820500"/>
            <a:ext cx="7021500" cy="3908400"/>
          </a:xfrm>
          <a:prstGeom prst="rect">
            <a:avLst/>
          </a:prstGeom>
        </p:spPr>
        <p:txBody>
          <a:bodyPr anchorCtr="0" anchor="t" bIns="91425" lIns="91425" spcFirstLastPara="1" rIns="91425" wrap="square" tIns="91425">
            <a:noAutofit/>
          </a:bodyPr>
          <a:lstStyle/>
          <a:p>
            <a:pPr indent="-368300" lvl="0" marL="457200" rtl="0" algn="l">
              <a:spcBef>
                <a:spcPts val="0"/>
              </a:spcBef>
              <a:spcAft>
                <a:spcPts val="0"/>
              </a:spcAft>
              <a:buSzPts val="2200"/>
              <a:buFont typeface="Arial"/>
              <a:buChar char="●"/>
            </a:pPr>
            <a:r>
              <a:rPr lang="en"/>
              <a:t>Lớp: CS2205.</a:t>
            </a:r>
            <a:r>
              <a:rPr lang="en"/>
              <a:t>SEP2025</a:t>
            </a:r>
            <a:endParaRPr/>
          </a:p>
          <a:p>
            <a:pPr indent="-368300" lvl="0" marL="457200" rtl="0" algn="l">
              <a:spcBef>
                <a:spcPts val="0"/>
              </a:spcBef>
              <a:spcAft>
                <a:spcPts val="0"/>
              </a:spcAft>
              <a:buSzPts val="2200"/>
              <a:buChar char="●"/>
            </a:pPr>
            <a:r>
              <a:rPr lang="en"/>
              <a:t>Link YouTube:</a:t>
            </a:r>
            <a:r>
              <a:rPr lang="en"/>
              <a:t> https://www.youtube.com/watch?v=STBvjNW0V0k</a:t>
            </a:r>
            <a:endParaRPr/>
          </a:p>
          <a:p>
            <a:pPr indent="-368300" lvl="0" marL="457200" rtl="0" algn="l">
              <a:spcBef>
                <a:spcPts val="0"/>
              </a:spcBef>
              <a:spcAft>
                <a:spcPts val="0"/>
              </a:spcAft>
              <a:buSzPts val="2200"/>
              <a:buChar char="●"/>
            </a:pPr>
            <a:r>
              <a:rPr lang="en"/>
              <a:t>Họ và tên: Huỳnh Thiên Phước - 250101052</a:t>
            </a:r>
            <a:endParaRPr/>
          </a:p>
          <a:p>
            <a:pPr indent="-368300" lvl="0" marL="457200" rtl="0" algn="l">
              <a:spcBef>
                <a:spcPts val="0"/>
              </a:spcBef>
              <a:spcAft>
                <a:spcPts val="0"/>
              </a:spcAft>
              <a:buSzPts val="2200"/>
              <a:buChar char="●"/>
            </a:pPr>
            <a:r>
              <a:rPr lang="en"/>
              <a:t>Tổng số slides không vượt quá 10</a:t>
            </a:r>
            <a:endParaRPr/>
          </a:p>
          <a:p>
            <a:pPr indent="-368300" lvl="0" marL="457200" rtl="0" algn="l">
              <a:spcBef>
                <a:spcPts val="0"/>
              </a:spcBef>
              <a:spcAft>
                <a:spcPts val="0"/>
              </a:spcAft>
              <a:buSzPts val="2200"/>
              <a:buChar char="●"/>
            </a:pPr>
            <a:r>
              <a:rPr lang="en"/>
              <a:t>Slides có sử dụng 1 số hình ảnh được tạo từ NotebookLM và Gemini Nano Pro nhằm phát thảo ý tưởng.</a:t>
            </a:r>
            <a:endParaRPr/>
          </a:p>
          <a:p>
            <a:pPr indent="0" lvl="0" marL="457200" rtl="0" algn="l">
              <a:spcBef>
                <a:spcPts val="1600"/>
              </a:spcBef>
              <a:spcAft>
                <a:spcPts val="0"/>
              </a:spcAft>
              <a:buNone/>
            </a:pPr>
            <a:r>
              <a:t/>
            </a:r>
            <a:endParaRPr/>
          </a:p>
          <a:p>
            <a:pPr indent="0" lvl="0" marL="457200" rtl="0" algn="l">
              <a:spcBef>
                <a:spcPts val="1600"/>
              </a:spcBef>
              <a:spcAft>
                <a:spcPts val="0"/>
              </a:spcAft>
              <a:buNone/>
            </a:pPr>
            <a:r>
              <a:t/>
            </a:r>
            <a:endParaRPr/>
          </a:p>
          <a:p>
            <a:pPr indent="0" lvl="0" marL="457200" rtl="0" algn="l">
              <a:spcBef>
                <a:spcPts val="1600"/>
              </a:spcBef>
              <a:spcAft>
                <a:spcPts val="0"/>
              </a:spcAft>
              <a:buNone/>
            </a:pPr>
            <a:r>
              <a:t/>
            </a:r>
            <a:endParaRPr/>
          </a:p>
          <a:p>
            <a:pPr indent="0" lvl="0" marL="914400" rtl="0" algn="l">
              <a:spcBef>
                <a:spcPts val="1600"/>
              </a:spcBef>
              <a:spcAft>
                <a:spcPts val="1600"/>
              </a:spcAft>
              <a:buNone/>
            </a:pPr>
            <a:r>
              <a:t/>
            </a:r>
            <a:endParaRPr sz="1800"/>
          </a:p>
        </p:txBody>
      </p:sp>
      <p:sp>
        <p:nvSpPr>
          <p:cNvPr id="76" name="Google Shape;76;p14"/>
          <p:cNvSpPr txBox="1"/>
          <p:nvPr>
            <p:ph idx="12" type="sldNum"/>
          </p:nvPr>
        </p:nvSpPr>
        <p:spPr>
          <a:xfrm>
            <a:off x="8523550" y="4813799"/>
            <a:ext cx="548700" cy="2754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77" name="Google Shape;77;p14"/>
          <p:cNvPicPr preferRelativeResize="0"/>
          <p:nvPr/>
        </p:nvPicPr>
        <p:blipFill>
          <a:blip r:embed="rId3">
            <a:alphaModFix/>
          </a:blip>
          <a:stretch>
            <a:fillRect/>
          </a:stretch>
        </p:blipFill>
        <p:spPr>
          <a:xfrm>
            <a:off x="7555000" y="820500"/>
            <a:ext cx="1371600" cy="19050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3C47D"/>
        </a:solidFill>
      </p:bgPr>
    </p:bg>
    <p:spTree>
      <p:nvGrpSpPr>
        <p:cNvPr id="81" name="Shape 81"/>
        <p:cNvGrpSpPr/>
        <p:nvPr/>
      </p:nvGrpSpPr>
      <p:grpSpPr>
        <a:xfrm>
          <a:off x="0" y="0"/>
          <a:ext cx="0" cy="0"/>
          <a:chOff x="0" y="0"/>
          <a:chExt cx="0" cy="0"/>
        </a:xfrm>
      </p:grpSpPr>
      <p:sp>
        <p:nvSpPr>
          <p:cNvPr id="82" name="Google Shape;82;p15"/>
          <p:cNvSpPr txBox="1"/>
          <p:nvPr>
            <p:ph type="title"/>
          </p:nvPr>
        </p:nvSpPr>
        <p:spPr>
          <a:xfrm>
            <a:off x="471900" y="57875"/>
            <a:ext cx="8222100" cy="670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a:t>Giới thiệu - Bối cảnh và vấn đề</a:t>
            </a:r>
            <a:endParaRPr/>
          </a:p>
        </p:txBody>
      </p:sp>
      <p:sp>
        <p:nvSpPr>
          <p:cNvPr id="83" name="Google Shape;83;p15"/>
          <p:cNvSpPr txBox="1"/>
          <p:nvPr>
            <p:ph idx="1" type="body"/>
          </p:nvPr>
        </p:nvSpPr>
        <p:spPr>
          <a:xfrm>
            <a:off x="82450" y="1317225"/>
            <a:ext cx="4807500" cy="275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1F2937"/>
                </a:solidFill>
                <a:highlight>
                  <a:srgbClr val="F9FAFB"/>
                </a:highlight>
              </a:rPr>
              <a:t>Thanh toán số bùng nổ, hóa đơn ảnh/scan trở thành chứng từ pháp lý chính.</a:t>
            </a:r>
            <a:endParaRPr sz="1800">
              <a:solidFill>
                <a:srgbClr val="1F2937"/>
              </a:solidFill>
              <a:highlight>
                <a:srgbClr val="F9FAFB"/>
              </a:highlight>
            </a:endParaRPr>
          </a:p>
          <a:p>
            <a:pPr indent="0" lvl="0" marL="0" rtl="0" algn="l">
              <a:spcBef>
                <a:spcPts val="1600"/>
              </a:spcBef>
              <a:spcAft>
                <a:spcPts val="0"/>
              </a:spcAft>
              <a:buNone/>
            </a:pPr>
            <a:r>
              <a:rPr lang="en" sz="1800">
                <a:solidFill>
                  <a:srgbClr val="1F2937"/>
                </a:solidFill>
                <a:highlight>
                  <a:srgbClr val="F9FAFB"/>
                </a:highlight>
              </a:rPr>
              <a:t>Công cụ chỉnh sửa (Photoshop, GenAI) ngày càng tinh vi, mắt thường không thể phát hiện.</a:t>
            </a:r>
            <a:endParaRPr sz="1800">
              <a:solidFill>
                <a:srgbClr val="1F2937"/>
              </a:solidFill>
              <a:highlight>
                <a:srgbClr val="F9FAFB"/>
              </a:highlight>
            </a:endParaRPr>
          </a:p>
          <a:p>
            <a:pPr indent="0" lvl="0" marL="0" rtl="0" algn="l">
              <a:spcBef>
                <a:spcPts val="1600"/>
              </a:spcBef>
              <a:spcAft>
                <a:spcPts val="1600"/>
              </a:spcAft>
              <a:buNone/>
            </a:pPr>
            <a:r>
              <a:rPr lang="en" sz="1800">
                <a:solidFill>
                  <a:srgbClr val="1F2937"/>
                </a:solidFill>
                <a:highlight>
                  <a:srgbClr val="F9FAFB"/>
                </a:highlight>
              </a:rPr>
              <a:t>Nguy cơ thất thoát tài chính lớn cho doanh nghiệp và bảo hiểm.</a:t>
            </a:r>
            <a:endParaRPr sz="1800"/>
          </a:p>
        </p:txBody>
      </p:sp>
      <p:pic>
        <p:nvPicPr>
          <p:cNvPr id="84" name="Google Shape;84;p15"/>
          <p:cNvPicPr preferRelativeResize="0"/>
          <p:nvPr/>
        </p:nvPicPr>
        <p:blipFill>
          <a:blip r:embed="rId3">
            <a:alphaModFix/>
          </a:blip>
          <a:stretch>
            <a:fillRect/>
          </a:stretch>
        </p:blipFill>
        <p:spPr>
          <a:xfrm>
            <a:off x="5042225" y="1241525"/>
            <a:ext cx="3984351" cy="2126568"/>
          </a:xfrm>
          <a:prstGeom prst="rect">
            <a:avLst/>
          </a:prstGeom>
          <a:noFill/>
          <a:ln>
            <a:noFill/>
          </a:ln>
        </p:spPr>
      </p:pic>
      <p:sp>
        <p:nvSpPr>
          <p:cNvPr id="85" name="Google Shape;85;p15"/>
          <p:cNvSpPr txBox="1"/>
          <p:nvPr>
            <p:ph idx="1" type="body"/>
          </p:nvPr>
        </p:nvSpPr>
        <p:spPr>
          <a:xfrm>
            <a:off x="4714400" y="3438025"/>
            <a:ext cx="4374000" cy="5820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i="1" lang="en" sz="1400">
                <a:solidFill>
                  <a:srgbClr val="4B5563"/>
                </a:solidFill>
              </a:rPr>
              <a:t>"Con số có thể bị sửa đổi pixel hoàn hảo, nhưng cấu trúc ảnh thì không."</a:t>
            </a:r>
            <a:endParaRPr sz="1400"/>
          </a:p>
        </p:txBody>
      </p:sp>
      <p:sp>
        <p:nvSpPr>
          <p:cNvPr id="86" name="Google Shape;86;p15"/>
          <p:cNvSpPr txBox="1"/>
          <p:nvPr>
            <p:ph idx="12" type="sldNum"/>
          </p:nvPr>
        </p:nvSpPr>
        <p:spPr>
          <a:xfrm>
            <a:off x="8523550" y="4813799"/>
            <a:ext cx="548700" cy="2754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3C47D"/>
        </a:solidFill>
      </p:bgPr>
    </p:bg>
    <p:spTree>
      <p:nvGrpSpPr>
        <p:cNvPr id="90" name="Shape 90"/>
        <p:cNvGrpSpPr/>
        <p:nvPr/>
      </p:nvGrpSpPr>
      <p:grpSpPr>
        <a:xfrm>
          <a:off x="0" y="0"/>
          <a:ext cx="0" cy="0"/>
          <a:chOff x="0" y="0"/>
          <a:chExt cx="0" cy="0"/>
        </a:xfrm>
      </p:grpSpPr>
      <p:sp>
        <p:nvSpPr>
          <p:cNvPr id="91" name="Google Shape;91;p16"/>
          <p:cNvSpPr txBox="1"/>
          <p:nvPr>
            <p:ph type="title"/>
          </p:nvPr>
        </p:nvSpPr>
        <p:spPr>
          <a:xfrm>
            <a:off x="471900" y="57875"/>
            <a:ext cx="8222100" cy="670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a:t>Mục tiêu</a:t>
            </a:r>
            <a:endParaRPr/>
          </a:p>
        </p:txBody>
      </p:sp>
      <p:pic>
        <p:nvPicPr>
          <p:cNvPr id="92" name="Google Shape;92;p16"/>
          <p:cNvPicPr preferRelativeResize="0"/>
          <p:nvPr/>
        </p:nvPicPr>
        <p:blipFill>
          <a:blip r:embed="rId3">
            <a:alphaModFix/>
          </a:blip>
          <a:stretch>
            <a:fillRect/>
          </a:stretch>
        </p:blipFill>
        <p:spPr>
          <a:xfrm>
            <a:off x="712621" y="1085625"/>
            <a:ext cx="1610200" cy="1383950"/>
          </a:xfrm>
          <a:prstGeom prst="rect">
            <a:avLst/>
          </a:prstGeom>
          <a:noFill/>
          <a:ln>
            <a:noFill/>
          </a:ln>
        </p:spPr>
      </p:pic>
      <p:pic>
        <p:nvPicPr>
          <p:cNvPr id="93" name="Google Shape;93;p16"/>
          <p:cNvPicPr preferRelativeResize="0"/>
          <p:nvPr/>
        </p:nvPicPr>
        <p:blipFill>
          <a:blip r:embed="rId4">
            <a:alphaModFix/>
          </a:blip>
          <a:stretch>
            <a:fillRect/>
          </a:stretch>
        </p:blipFill>
        <p:spPr>
          <a:xfrm>
            <a:off x="3600421" y="1126768"/>
            <a:ext cx="1610200" cy="1301656"/>
          </a:xfrm>
          <a:prstGeom prst="rect">
            <a:avLst/>
          </a:prstGeom>
          <a:noFill/>
          <a:ln>
            <a:noFill/>
          </a:ln>
        </p:spPr>
      </p:pic>
      <p:pic>
        <p:nvPicPr>
          <p:cNvPr id="94" name="Google Shape;94;p16"/>
          <p:cNvPicPr preferRelativeResize="0"/>
          <p:nvPr/>
        </p:nvPicPr>
        <p:blipFill>
          <a:blip r:embed="rId5">
            <a:alphaModFix/>
          </a:blip>
          <a:stretch>
            <a:fillRect/>
          </a:stretch>
        </p:blipFill>
        <p:spPr>
          <a:xfrm>
            <a:off x="6691046" y="1228063"/>
            <a:ext cx="1816350" cy="1099075"/>
          </a:xfrm>
          <a:prstGeom prst="rect">
            <a:avLst/>
          </a:prstGeom>
          <a:noFill/>
          <a:ln>
            <a:noFill/>
          </a:ln>
        </p:spPr>
      </p:pic>
      <p:sp>
        <p:nvSpPr>
          <p:cNvPr id="95" name="Google Shape;95;p16"/>
          <p:cNvSpPr txBox="1"/>
          <p:nvPr/>
        </p:nvSpPr>
        <p:spPr>
          <a:xfrm>
            <a:off x="74721" y="2588325"/>
            <a:ext cx="2825400" cy="2125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700">
                <a:solidFill>
                  <a:srgbClr val="6AA84F"/>
                </a:solidFill>
                <a:latin typeface="Roboto"/>
                <a:ea typeface="Roboto"/>
                <a:cs typeface="Roboto"/>
                <a:sym typeface="Roboto"/>
              </a:rPr>
              <a:t>01</a:t>
            </a:r>
            <a:endParaRPr b="1" sz="2700">
              <a:solidFill>
                <a:srgbClr val="6AA84F"/>
              </a:solidFill>
              <a:latin typeface="Roboto"/>
              <a:ea typeface="Roboto"/>
              <a:cs typeface="Roboto"/>
              <a:sym typeface="Roboto"/>
            </a:endParaRPr>
          </a:p>
          <a:p>
            <a:pPr indent="0" lvl="0" marL="0" rtl="0" algn="ctr">
              <a:lnSpc>
                <a:spcPct val="115000"/>
              </a:lnSpc>
              <a:spcBef>
                <a:spcPts val="0"/>
              </a:spcBef>
              <a:spcAft>
                <a:spcPts val="0"/>
              </a:spcAft>
              <a:buNone/>
            </a:pPr>
            <a:r>
              <a:rPr b="1" lang="en" sz="1800">
                <a:solidFill>
                  <a:srgbClr val="1F2937"/>
                </a:solidFill>
                <a:latin typeface="Roboto"/>
                <a:ea typeface="Roboto"/>
                <a:cs typeface="Roboto"/>
                <a:sym typeface="Roboto"/>
              </a:rPr>
              <a:t>Xây dựng bộ dữ liệu </a:t>
            </a:r>
            <a:endParaRPr b="1" sz="1800">
              <a:solidFill>
                <a:srgbClr val="1F2937"/>
              </a:solidFill>
              <a:latin typeface="Roboto"/>
              <a:ea typeface="Roboto"/>
              <a:cs typeface="Roboto"/>
              <a:sym typeface="Roboto"/>
            </a:endParaRPr>
          </a:p>
          <a:p>
            <a:pPr indent="0" lvl="0" marL="0" rtl="0" algn="ctr">
              <a:lnSpc>
                <a:spcPct val="115000"/>
              </a:lnSpc>
              <a:spcBef>
                <a:spcPts val="0"/>
              </a:spcBef>
              <a:spcAft>
                <a:spcPts val="0"/>
              </a:spcAft>
              <a:buNone/>
            </a:pPr>
            <a:r>
              <a:rPr lang="en">
                <a:solidFill>
                  <a:srgbClr val="1F2937"/>
                </a:solidFill>
                <a:latin typeface="Roboto"/>
                <a:ea typeface="Roboto"/>
                <a:cs typeface="Roboto"/>
                <a:sym typeface="Roboto"/>
              </a:rPr>
              <a:t>Thiết lập quy trình sinh dữ liệu giả lập (Synthetic Data Generation) tự động để tạo ra hàng nghìn mẫu hóa đơn bị chỉnh sửa (Splicing/Inpainting).</a:t>
            </a:r>
            <a:endParaRPr b="1">
              <a:solidFill>
                <a:srgbClr val="1F2937"/>
              </a:solidFill>
              <a:latin typeface="Roboto"/>
              <a:ea typeface="Roboto"/>
              <a:cs typeface="Roboto"/>
              <a:sym typeface="Roboto"/>
            </a:endParaRPr>
          </a:p>
        </p:txBody>
      </p:sp>
      <p:sp>
        <p:nvSpPr>
          <p:cNvPr id="96" name="Google Shape;96;p16"/>
          <p:cNvSpPr txBox="1"/>
          <p:nvPr/>
        </p:nvSpPr>
        <p:spPr>
          <a:xfrm>
            <a:off x="3109733" y="2598419"/>
            <a:ext cx="2825400" cy="1877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700">
                <a:solidFill>
                  <a:srgbClr val="3C78D8"/>
                </a:solidFill>
                <a:latin typeface="Roboto"/>
                <a:ea typeface="Roboto"/>
                <a:cs typeface="Roboto"/>
                <a:sym typeface="Roboto"/>
              </a:rPr>
              <a:t>02</a:t>
            </a:r>
            <a:endParaRPr b="1" sz="2700">
              <a:solidFill>
                <a:srgbClr val="3C78D8"/>
              </a:solidFill>
              <a:latin typeface="Roboto"/>
              <a:ea typeface="Roboto"/>
              <a:cs typeface="Roboto"/>
              <a:sym typeface="Roboto"/>
            </a:endParaRPr>
          </a:p>
          <a:p>
            <a:pPr indent="0" lvl="0" marL="0" rtl="0" algn="ctr">
              <a:lnSpc>
                <a:spcPct val="115000"/>
              </a:lnSpc>
              <a:spcBef>
                <a:spcPts val="0"/>
              </a:spcBef>
              <a:spcAft>
                <a:spcPts val="0"/>
              </a:spcAft>
              <a:buNone/>
            </a:pPr>
            <a:r>
              <a:rPr b="1" lang="en" sz="1800">
                <a:solidFill>
                  <a:srgbClr val="1F2937"/>
                </a:solidFill>
                <a:latin typeface="Roboto"/>
                <a:ea typeface="Roboto"/>
                <a:cs typeface="Roboto"/>
                <a:sym typeface="Roboto"/>
              </a:rPr>
              <a:t>Phát triển Mô hình </a:t>
            </a:r>
            <a:endParaRPr b="1" sz="1800">
              <a:solidFill>
                <a:srgbClr val="1F2937"/>
              </a:solidFill>
              <a:latin typeface="Roboto"/>
              <a:ea typeface="Roboto"/>
              <a:cs typeface="Roboto"/>
              <a:sym typeface="Roboto"/>
            </a:endParaRPr>
          </a:p>
          <a:p>
            <a:pPr indent="0" lvl="0" marL="0" rtl="0" algn="ctr">
              <a:lnSpc>
                <a:spcPct val="115000"/>
              </a:lnSpc>
              <a:spcBef>
                <a:spcPts val="0"/>
              </a:spcBef>
              <a:spcAft>
                <a:spcPts val="0"/>
              </a:spcAft>
              <a:buNone/>
            </a:pPr>
            <a:r>
              <a:rPr lang="en">
                <a:solidFill>
                  <a:srgbClr val="1F2937"/>
                </a:solidFill>
                <a:latin typeface="Roboto"/>
                <a:ea typeface="Roboto"/>
                <a:cs typeface="Roboto"/>
                <a:sym typeface="Roboto"/>
              </a:rPr>
              <a:t>Xây dựng kiến trúc </a:t>
            </a:r>
            <a:r>
              <a:rPr b="1" lang="en">
                <a:solidFill>
                  <a:srgbClr val="1F2937"/>
                </a:solidFill>
                <a:latin typeface="Roboto"/>
                <a:ea typeface="Roboto"/>
                <a:cs typeface="Roboto"/>
                <a:sym typeface="Roboto"/>
              </a:rPr>
              <a:t>Attention U-Net </a:t>
            </a:r>
            <a:r>
              <a:rPr lang="en">
                <a:solidFill>
                  <a:srgbClr val="1F2937"/>
                </a:solidFill>
                <a:latin typeface="Roboto"/>
                <a:ea typeface="Roboto"/>
                <a:cs typeface="Roboto"/>
                <a:sym typeface="Roboto"/>
              </a:rPr>
              <a:t>kết hợp bộ lọc nhiễu </a:t>
            </a:r>
            <a:r>
              <a:rPr b="1" lang="en">
                <a:solidFill>
                  <a:srgbClr val="1F2937"/>
                </a:solidFill>
                <a:latin typeface="Roboto"/>
                <a:ea typeface="Roboto"/>
                <a:cs typeface="Roboto"/>
                <a:sym typeface="Roboto"/>
              </a:rPr>
              <a:t>SRM</a:t>
            </a:r>
            <a:r>
              <a:rPr lang="en">
                <a:solidFill>
                  <a:srgbClr val="1F2937"/>
                </a:solidFill>
                <a:latin typeface="Roboto"/>
                <a:ea typeface="Roboto"/>
                <a:cs typeface="Roboto"/>
                <a:sym typeface="Roboto"/>
              </a:rPr>
              <a:t> để tối ưu hóa khả năng phát hiện chỉnh sửa trên ảnh tài liệu.</a:t>
            </a:r>
            <a:endParaRPr b="1">
              <a:solidFill>
                <a:srgbClr val="1F2937"/>
              </a:solidFill>
              <a:latin typeface="Roboto"/>
              <a:ea typeface="Roboto"/>
              <a:cs typeface="Roboto"/>
              <a:sym typeface="Roboto"/>
            </a:endParaRPr>
          </a:p>
        </p:txBody>
      </p:sp>
      <p:sp>
        <p:nvSpPr>
          <p:cNvPr id="97" name="Google Shape;97;p16"/>
          <p:cNvSpPr txBox="1"/>
          <p:nvPr/>
        </p:nvSpPr>
        <p:spPr>
          <a:xfrm>
            <a:off x="6144746" y="2598410"/>
            <a:ext cx="2825400" cy="2125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700">
                <a:solidFill>
                  <a:srgbClr val="E69138"/>
                </a:solidFill>
                <a:latin typeface="Roboto"/>
                <a:ea typeface="Roboto"/>
                <a:cs typeface="Roboto"/>
                <a:sym typeface="Roboto"/>
              </a:rPr>
              <a:t>03</a:t>
            </a:r>
            <a:endParaRPr b="1" sz="2700">
              <a:solidFill>
                <a:srgbClr val="E69138"/>
              </a:solidFill>
              <a:latin typeface="Roboto"/>
              <a:ea typeface="Roboto"/>
              <a:cs typeface="Roboto"/>
              <a:sym typeface="Roboto"/>
            </a:endParaRPr>
          </a:p>
          <a:p>
            <a:pPr indent="0" lvl="0" marL="0" rtl="0" algn="ctr">
              <a:lnSpc>
                <a:spcPct val="115000"/>
              </a:lnSpc>
              <a:spcBef>
                <a:spcPts val="0"/>
              </a:spcBef>
              <a:spcAft>
                <a:spcPts val="0"/>
              </a:spcAft>
              <a:buNone/>
            </a:pPr>
            <a:r>
              <a:rPr b="1" lang="en" sz="1800">
                <a:solidFill>
                  <a:srgbClr val="1F2937"/>
                </a:solidFill>
                <a:latin typeface="Roboto"/>
                <a:ea typeface="Roboto"/>
                <a:cs typeface="Roboto"/>
                <a:sym typeface="Roboto"/>
              </a:rPr>
              <a:t> Đánh giá Hiệu năng</a:t>
            </a:r>
            <a:r>
              <a:rPr b="1" lang="en" sz="1800">
                <a:solidFill>
                  <a:srgbClr val="1F2937"/>
                </a:solidFill>
                <a:latin typeface="Roboto"/>
                <a:ea typeface="Roboto"/>
                <a:cs typeface="Roboto"/>
                <a:sym typeface="Roboto"/>
              </a:rPr>
              <a:t> </a:t>
            </a:r>
            <a:endParaRPr b="1" sz="1800">
              <a:solidFill>
                <a:srgbClr val="1F2937"/>
              </a:solidFill>
              <a:latin typeface="Roboto"/>
              <a:ea typeface="Roboto"/>
              <a:cs typeface="Roboto"/>
              <a:sym typeface="Roboto"/>
            </a:endParaRPr>
          </a:p>
          <a:p>
            <a:pPr indent="0" lvl="0" marL="0" rtl="0" algn="ctr">
              <a:lnSpc>
                <a:spcPct val="115000"/>
              </a:lnSpc>
              <a:spcBef>
                <a:spcPts val="0"/>
              </a:spcBef>
              <a:spcAft>
                <a:spcPts val="0"/>
              </a:spcAft>
              <a:buNone/>
            </a:pPr>
            <a:r>
              <a:rPr lang="en">
                <a:solidFill>
                  <a:srgbClr val="1F2937"/>
                </a:solidFill>
                <a:latin typeface="Roboto"/>
                <a:ea typeface="Roboto"/>
                <a:cs typeface="Roboto"/>
                <a:sym typeface="Roboto"/>
              </a:rPr>
              <a:t>Đạt chỉ số F1-Score &gt; 80% và chứng minh hiệu quả vượt trội so với các phương pháp truyền thống. Có khả năng ứng dụng thực tế.</a:t>
            </a:r>
            <a:endParaRPr b="1">
              <a:solidFill>
                <a:srgbClr val="1F2937"/>
              </a:solidFill>
              <a:latin typeface="Roboto"/>
              <a:ea typeface="Roboto"/>
              <a:cs typeface="Roboto"/>
              <a:sym typeface="Roboto"/>
            </a:endParaRPr>
          </a:p>
        </p:txBody>
      </p:sp>
      <p:sp>
        <p:nvSpPr>
          <p:cNvPr id="98" name="Google Shape;98;p16"/>
          <p:cNvSpPr txBox="1"/>
          <p:nvPr>
            <p:ph idx="12" type="sldNum"/>
          </p:nvPr>
        </p:nvSpPr>
        <p:spPr>
          <a:xfrm>
            <a:off x="8523550" y="4813799"/>
            <a:ext cx="548700" cy="2754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3C47D"/>
        </a:solidFill>
      </p:bgPr>
    </p:bg>
    <p:spTree>
      <p:nvGrpSpPr>
        <p:cNvPr id="102" name="Shape 102"/>
        <p:cNvGrpSpPr/>
        <p:nvPr/>
      </p:nvGrpSpPr>
      <p:grpSpPr>
        <a:xfrm>
          <a:off x="0" y="0"/>
          <a:ext cx="0" cy="0"/>
          <a:chOff x="0" y="0"/>
          <a:chExt cx="0" cy="0"/>
        </a:xfrm>
      </p:grpSpPr>
      <p:sp>
        <p:nvSpPr>
          <p:cNvPr id="103" name="Google Shape;103;p17"/>
          <p:cNvSpPr txBox="1"/>
          <p:nvPr>
            <p:ph type="title"/>
          </p:nvPr>
        </p:nvSpPr>
        <p:spPr>
          <a:xfrm>
            <a:off x="189525" y="57875"/>
            <a:ext cx="8222100" cy="670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a:t>Nội dung và Phương pháp - </a:t>
            </a:r>
            <a:r>
              <a:rPr b="1" lang="en"/>
              <a:t>Tạo dữ liệu</a:t>
            </a:r>
            <a:endParaRPr/>
          </a:p>
        </p:txBody>
      </p:sp>
      <p:sp>
        <p:nvSpPr>
          <p:cNvPr id="104" name="Google Shape;104;p17"/>
          <p:cNvSpPr txBox="1"/>
          <p:nvPr>
            <p:ph idx="12" type="sldNum"/>
          </p:nvPr>
        </p:nvSpPr>
        <p:spPr>
          <a:xfrm>
            <a:off x="8503800" y="4581849"/>
            <a:ext cx="548700" cy="2754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05" name="Google Shape;105;p17"/>
          <p:cNvPicPr preferRelativeResize="0"/>
          <p:nvPr/>
        </p:nvPicPr>
        <p:blipFill>
          <a:blip r:embed="rId3">
            <a:alphaModFix/>
          </a:blip>
          <a:stretch>
            <a:fillRect/>
          </a:stretch>
        </p:blipFill>
        <p:spPr>
          <a:xfrm>
            <a:off x="169775" y="944650"/>
            <a:ext cx="2667000" cy="1352550"/>
          </a:xfrm>
          <a:prstGeom prst="rect">
            <a:avLst/>
          </a:prstGeom>
          <a:noFill/>
          <a:ln>
            <a:noFill/>
          </a:ln>
        </p:spPr>
      </p:pic>
      <p:pic>
        <p:nvPicPr>
          <p:cNvPr id="106" name="Google Shape;106;p17"/>
          <p:cNvPicPr preferRelativeResize="0"/>
          <p:nvPr/>
        </p:nvPicPr>
        <p:blipFill>
          <a:blip r:embed="rId4">
            <a:alphaModFix/>
          </a:blip>
          <a:stretch>
            <a:fillRect/>
          </a:stretch>
        </p:blipFill>
        <p:spPr>
          <a:xfrm>
            <a:off x="3376500" y="944650"/>
            <a:ext cx="2514600" cy="1304925"/>
          </a:xfrm>
          <a:prstGeom prst="rect">
            <a:avLst/>
          </a:prstGeom>
          <a:noFill/>
          <a:ln>
            <a:noFill/>
          </a:ln>
        </p:spPr>
      </p:pic>
      <p:pic>
        <p:nvPicPr>
          <p:cNvPr id="107" name="Google Shape;107;p17"/>
          <p:cNvPicPr preferRelativeResize="0"/>
          <p:nvPr/>
        </p:nvPicPr>
        <p:blipFill>
          <a:blip r:embed="rId5">
            <a:alphaModFix/>
          </a:blip>
          <a:stretch>
            <a:fillRect/>
          </a:stretch>
        </p:blipFill>
        <p:spPr>
          <a:xfrm>
            <a:off x="6389400" y="830338"/>
            <a:ext cx="2562225" cy="1466850"/>
          </a:xfrm>
          <a:prstGeom prst="rect">
            <a:avLst/>
          </a:prstGeom>
          <a:noFill/>
          <a:ln>
            <a:noFill/>
          </a:ln>
        </p:spPr>
      </p:pic>
      <p:sp>
        <p:nvSpPr>
          <p:cNvPr id="108" name="Google Shape;108;p17"/>
          <p:cNvSpPr/>
          <p:nvPr/>
        </p:nvSpPr>
        <p:spPr>
          <a:xfrm>
            <a:off x="2836775" y="1424275"/>
            <a:ext cx="474000" cy="393300"/>
          </a:xfrm>
          <a:prstGeom prst="mathPlus">
            <a:avLst>
              <a:gd fmla="val 23520" name="adj1"/>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109" name="Google Shape;109;p17"/>
          <p:cNvSpPr/>
          <p:nvPr/>
        </p:nvSpPr>
        <p:spPr>
          <a:xfrm>
            <a:off x="5956825" y="1459525"/>
            <a:ext cx="413400" cy="322800"/>
          </a:xfrm>
          <a:prstGeom prst="rightArrow">
            <a:avLst>
              <a:gd fmla="val 50000" name="adj1"/>
              <a:gd fmla="val 5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10" name="Google Shape;110;p17"/>
          <p:cNvSpPr txBox="1"/>
          <p:nvPr>
            <p:ph idx="1" type="body"/>
          </p:nvPr>
        </p:nvSpPr>
        <p:spPr>
          <a:xfrm>
            <a:off x="123600" y="2513471"/>
            <a:ext cx="9020400" cy="243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800"/>
              <a:t>Vấn đề</a:t>
            </a:r>
            <a:r>
              <a:rPr b="1" lang="en" sz="1800"/>
              <a:t>:</a:t>
            </a:r>
            <a:r>
              <a:rPr lang="en" sz="1800"/>
              <a:t> </a:t>
            </a:r>
            <a:r>
              <a:rPr lang="en" sz="1800"/>
              <a:t>Thiếu dữ liệu huấn luyện trong lĩnh vực pháp y tài liệu hoá đơn.</a:t>
            </a:r>
            <a:endParaRPr sz="1800"/>
          </a:p>
          <a:p>
            <a:pPr indent="0" lvl="0" marL="0" rtl="0" algn="l">
              <a:spcBef>
                <a:spcPts val="1600"/>
              </a:spcBef>
              <a:spcAft>
                <a:spcPts val="0"/>
              </a:spcAft>
              <a:buNone/>
            </a:pPr>
            <a:r>
              <a:rPr b="1" lang="en" sz="1800"/>
              <a:t>Hướng giải quyết</a:t>
            </a:r>
            <a:r>
              <a:rPr lang="en" sz="1800"/>
              <a:t>: Dùng script để sinh dữ liệu đã bị chỉnh sửa dựa trên dữ liệu gốc thông qua phương pháp:</a:t>
            </a:r>
            <a:endParaRPr sz="1800"/>
          </a:p>
          <a:p>
            <a:pPr indent="-342900" lvl="0" marL="457200" rtl="0" algn="l">
              <a:lnSpc>
                <a:spcPct val="150000"/>
              </a:lnSpc>
              <a:spcBef>
                <a:spcPts val="1600"/>
              </a:spcBef>
              <a:spcAft>
                <a:spcPts val="0"/>
              </a:spcAft>
              <a:buSzPts val="1800"/>
              <a:buChar char="●"/>
            </a:pPr>
            <a:r>
              <a:rPr b="1" lang="en" sz="1800"/>
              <a:t>Splicing</a:t>
            </a:r>
            <a:r>
              <a:rPr lang="en" sz="1800"/>
              <a:t>: Cắt vùng văn bản từ hóa đơn này ghép sang hóa đơn khác.</a:t>
            </a:r>
            <a:endParaRPr sz="1800"/>
          </a:p>
          <a:p>
            <a:pPr indent="-342900" lvl="0" marL="457200" rtl="0" algn="l">
              <a:lnSpc>
                <a:spcPct val="150000"/>
              </a:lnSpc>
              <a:spcBef>
                <a:spcPts val="0"/>
              </a:spcBef>
              <a:spcAft>
                <a:spcPts val="0"/>
              </a:spcAft>
              <a:buSzPts val="1800"/>
              <a:buChar char="●"/>
            </a:pPr>
            <a:r>
              <a:rPr b="1" lang="en" sz="1800"/>
              <a:t>Inpainting</a:t>
            </a:r>
            <a:r>
              <a:rPr lang="en" sz="1800"/>
              <a:t>: Xóa số liệu gốc và chèn số liệu mới với font chữ tương tự</a:t>
            </a:r>
            <a:endParaRPr sz="1800"/>
          </a:p>
          <a:p>
            <a:pPr indent="0" lvl="0" marL="0" rtl="0" algn="l">
              <a:spcBef>
                <a:spcPts val="1200"/>
              </a:spcBef>
              <a:spcAft>
                <a:spcPts val="1600"/>
              </a:spcAft>
              <a:buNone/>
            </a:pPr>
            <a:r>
              <a:t/>
            </a:r>
            <a:endParaRPr sz="14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3C47D"/>
        </a:solidFill>
      </p:bgPr>
    </p:bg>
    <p:spTree>
      <p:nvGrpSpPr>
        <p:cNvPr id="114" name="Shape 114"/>
        <p:cNvGrpSpPr/>
        <p:nvPr/>
      </p:nvGrpSpPr>
      <p:grpSpPr>
        <a:xfrm>
          <a:off x="0" y="0"/>
          <a:ext cx="0" cy="0"/>
          <a:chOff x="0" y="0"/>
          <a:chExt cx="0" cy="0"/>
        </a:xfrm>
      </p:grpSpPr>
      <p:sp>
        <p:nvSpPr>
          <p:cNvPr id="115" name="Google Shape;115;p18"/>
          <p:cNvSpPr txBox="1"/>
          <p:nvPr>
            <p:ph type="title"/>
          </p:nvPr>
        </p:nvSpPr>
        <p:spPr>
          <a:xfrm>
            <a:off x="301450" y="57875"/>
            <a:ext cx="8222100" cy="670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a:t>Nội dung và Phương pháp - Pipeline</a:t>
            </a:r>
            <a:endParaRPr/>
          </a:p>
        </p:txBody>
      </p:sp>
      <p:sp>
        <p:nvSpPr>
          <p:cNvPr id="116" name="Google Shape;116;p18"/>
          <p:cNvSpPr txBox="1"/>
          <p:nvPr>
            <p:ph idx="12" type="sldNum"/>
          </p:nvPr>
        </p:nvSpPr>
        <p:spPr>
          <a:xfrm>
            <a:off x="8523550" y="4813799"/>
            <a:ext cx="548700" cy="2754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17" name="Google Shape;117;p18"/>
          <p:cNvPicPr preferRelativeResize="0"/>
          <p:nvPr/>
        </p:nvPicPr>
        <p:blipFill>
          <a:blip r:embed="rId3">
            <a:alphaModFix/>
          </a:blip>
          <a:stretch>
            <a:fillRect/>
          </a:stretch>
        </p:blipFill>
        <p:spPr>
          <a:xfrm>
            <a:off x="837075" y="728375"/>
            <a:ext cx="7269649" cy="3295650"/>
          </a:xfrm>
          <a:prstGeom prst="rect">
            <a:avLst/>
          </a:prstGeom>
          <a:noFill/>
          <a:ln>
            <a:noFill/>
          </a:ln>
        </p:spPr>
      </p:pic>
      <p:sp>
        <p:nvSpPr>
          <p:cNvPr id="118" name="Google Shape;118;p18"/>
          <p:cNvSpPr txBox="1"/>
          <p:nvPr>
            <p:ph idx="1" type="body"/>
          </p:nvPr>
        </p:nvSpPr>
        <p:spPr>
          <a:xfrm>
            <a:off x="123600" y="4073700"/>
            <a:ext cx="9020400" cy="101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800"/>
              <a:t>Ý tưởng chính:</a:t>
            </a:r>
            <a:r>
              <a:rPr lang="en" sz="1800"/>
              <a:t> </a:t>
            </a:r>
            <a:r>
              <a:rPr lang="en" sz="1800">
                <a:latin typeface="Arial"/>
                <a:ea typeface="Arial"/>
                <a:cs typeface="Arial"/>
                <a:sym typeface="Arial"/>
              </a:rPr>
              <a:t>Hệ thống kết hợp cả thông tin thị giác (phân tích RGB) và thông tin nhiễu để đưa vào mạng Attention U-Net, giúp phát hiện các vết chỉnh sửa tinh vi.</a:t>
            </a:r>
            <a:endParaRPr sz="1800"/>
          </a:p>
          <a:p>
            <a:pPr indent="0" lvl="0" marL="0" rtl="0" algn="l">
              <a:spcBef>
                <a:spcPts val="1600"/>
              </a:spcBef>
              <a:spcAft>
                <a:spcPts val="1600"/>
              </a:spcAft>
              <a:buNone/>
            </a:pPr>
            <a:r>
              <a:t/>
            </a:r>
            <a:endParaRPr sz="18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3C47D"/>
        </a:solidFill>
      </p:bgPr>
    </p:bg>
    <p:spTree>
      <p:nvGrpSpPr>
        <p:cNvPr id="122" name="Shape 122"/>
        <p:cNvGrpSpPr/>
        <p:nvPr/>
      </p:nvGrpSpPr>
      <p:grpSpPr>
        <a:xfrm>
          <a:off x="0" y="0"/>
          <a:ext cx="0" cy="0"/>
          <a:chOff x="0" y="0"/>
          <a:chExt cx="0" cy="0"/>
        </a:xfrm>
      </p:grpSpPr>
      <p:sp>
        <p:nvSpPr>
          <p:cNvPr id="123" name="Google Shape;123;p19"/>
          <p:cNvSpPr txBox="1"/>
          <p:nvPr>
            <p:ph type="title"/>
          </p:nvPr>
        </p:nvSpPr>
        <p:spPr>
          <a:xfrm>
            <a:off x="301450" y="57875"/>
            <a:ext cx="8222100" cy="670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a:t>Nội dung và Phương pháp - </a:t>
            </a:r>
            <a:r>
              <a:rPr b="1" lang="en"/>
              <a:t>Attention U-Net</a:t>
            </a:r>
            <a:endParaRPr/>
          </a:p>
        </p:txBody>
      </p:sp>
      <p:sp>
        <p:nvSpPr>
          <p:cNvPr id="124" name="Google Shape;124;p19"/>
          <p:cNvSpPr txBox="1"/>
          <p:nvPr>
            <p:ph idx="12" type="sldNum"/>
          </p:nvPr>
        </p:nvSpPr>
        <p:spPr>
          <a:xfrm>
            <a:off x="8523550" y="4813799"/>
            <a:ext cx="548700" cy="2754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25" name="Google Shape;125;p19"/>
          <p:cNvPicPr preferRelativeResize="0"/>
          <p:nvPr/>
        </p:nvPicPr>
        <p:blipFill>
          <a:blip r:embed="rId3">
            <a:alphaModFix/>
          </a:blip>
          <a:stretch>
            <a:fillRect/>
          </a:stretch>
        </p:blipFill>
        <p:spPr>
          <a:xfrm>
            <a:off x="911575" y="728375"/>
            <a:ext cx="7166724" cy="3363700"/>
          </a:xfrm>
          <a:prstGeom prst="rect">
            <a:avLst/>
          </a:prstGeom>
          <a:noFill/>
          <a:ln>
            <a:noFill/>
          </a:ln>
        </p:spPr>
      </p:pic>
      <p:sp>
        <p:nvSpPr>
          <p:cNvPr id="126" name="Google Shape;126;p19"/>
          <p:cNvSpPr txBox="1"/>
          <p:nvPr/>
        </p:nvSpPr>
        <p:spPr>
          <a:xfrm>
            <a:off x="242050" y="4092075"/>
            <a:ext cx="8901900" cy="723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1200"/>
              </a:spcAft>
              <a:buNone/>
            </a:pPr>
            <a:r>
              <a:rPr lang="en">
                <a:latin typeface="Roboto"/>
                <a:ea typeface="Roboto"/>
                <a:cs typeface="Roboto"/>
                <a:sym typeface="Roboto"/>
              </a:rPr>
              <a:t>Tích hợp các module </a:t>
            </a:r>
            <a:r>
              <a:rPr b="1" lang="en">
                <a:latin typeface="Roboto"/>
                <a:ea typeface="Roboto"/>
                <a:cs typeface="Roboto"/>
                <a:sym typeface="Roboto"/>
              </a:rPr>
              <a:t>Attention Gate</a:t>
            </a:r>
            <a:r>
              <a:rPr lang="en">
                <a:latin typeface="Roboto"/>
                <a:ea typeface="Roboto"/>
                <a:cs typeface="Roboto"/>
                <a:sym typeface="Roboto"/>
              </a:rPr>
              <a:t> tại các kết nối nhảy (skip connections) giữa luồng Encoder và Decoder. Mục đích là lọc bỏ các tín hiệu từ vùng nền và tăng cường tín hiệu tại vùng biên của vết chỉnh sửa.</a:t>
            </a:r>
            <a:endParaRPr>
              <a:latin typeface="Roboto"/>
              <a:ea typeface="Roboto"/>
              <a:cs typeface="Roboto"/>
              <a:sym typeface="Roboto"/>
            </a:endParaRPr>
          </a:p>
        </p:txBody>
      </p:sp>
      <p:sp>
        <p:nvSpPr>
          <p:cNvPr id="127" name="Google Shape;127;p19"/>
          <p:cNvSpPr txBox="1"/>
          <p:nvPr/>
        </p:nvSpPr>
        <p:spPr>
          <a:xfrm>
            <a:off x="3580275" y="4787025"/>
            <a:ext cx="5355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rgbClr val="1F2937"/>
                </a:solidFill>
                <a:latin typeface="Roboto"/>
                <a:ea typeface="Roboto"/>
                <a:cs typeface="Roboto"/>
                <a:sym typeface="Roboto"/>
              </a:rPr>
              <a:t>Image source: </a:t>
            </a:r>
            <a:r>
              <a:rPr b="1" lang="en" sz="1200" u="sng">
                <a:solidFill>
                  <a:srgbClr val="1155CC"/>
                </a:solidFill>
                <a:latin typeface="Roboto"/>
                <a:ea typeface="Roboto"/>
                <a:cs typeface="Roboto"/>
                <a:sym typeface="Roboto"/>
                <a:hlinkClick r:id="rId4">
                  <a:extLst>
                    <a:ext uri="{A12FA001-AC4F-418D-AE19-62706E023703}">
                      <ahyp:hlinkClr val="tx"/>
                    </a:ext>
                  </a:extLst>
                </a:hlinkClick>
              </a:rPr>
              <a:t>Attention U-Net: Learning Where to Look for the Pancreas</a:t>
            </a:r>
            <a:endParaRPr sz="1200">
              <a:solidFill>
                <a:srgbClr val="1155CC"/>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3C47D"/>
        </a:solidFill>
      </p:bgPr>
    </p:bg>
    <p:spTree>
      <p:nvGrpSpPr>
        <p:cNvPr id="131" name="Shape 131"/>
        <p:cNvGrpSpPr/>
        <p:nvPr/>
      </p:nvGrpSpPr>
      <p:grpSpPr>
        <a:xfrm>
          <a:off x="0" y="0"/>
          <a:ext cx="0" cy="0"/>
          <a:chOff x="0" y="0"/>
          <a:chExt cx="0" cy="0"/>
        </a:xfrm>
      </p:grpSpPr>
      <p:sp>
        <p:nvSpPr>
          <p:cNvPr id="132" name="Google Shape;132;p20"/>
          <p:cNvSpPr txBox="1"/>
          <p:nvPr>
            <p:ph type="title"/>
          </p:nvPr>
        </p:nvSpPr>
        <p:spPr>
          <a:xfrm>
            <a:off x="250000" y="40925"/>
            <a:ext cx="8222100" cy="670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a:t>Kết quả dự kiến</a:t>
            </a:r>
            <a:endParaRPr/>
          </a:p>
        </p:txBody>
      </p:sp>
      <p:sp>
        <p:nvSpPr>
          <p:cNvPr id="133" name="Google Shape;133;p20"/>
          <p:cNvSpPr txBox="1"/>
          <p:nvPr>
            <p:ph idx="12" type="sldNum"/>
          </p:nvPr>
        </p:nvSpPr>
        <p:spPr>
          <a:xfrm>
            <a:off x="8523550" y="4813799"/>
            <a:ext cx="548700" cy="2754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4" name="Google Shape;134;p20"/>
          <p:cNvSpPr/>
          <p:nvPr/>
        </p:nvSpPr>
        <p:spPr>
          <a:xfrm>
            <a:off x="3723363" y="1593469"/>
            <a:ext cx="1056300" cy="948000"/>
          </a:xfrm>
          <a:prstGeom prst="rightArrow">
            <a:avLst>
              <a:gd fmla="val 50000" name="adj1"/>
              <a:gd fmla="val 50000" name="adj2"/>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Roboto"/>
                <a:ea typeface="Roboto"/>
                <a:cs typeface="Roboto"/>
                <a:sym typeface="Roboto"/>
              </a:rPr>
              <a:t>Model</a:t>
            </a:r>
            <a:endParaRPr>
              <a:solidFill>
                <a:schemeClr val="lt1"/>
              </a:solidFill>
              <a:latin typeface="Roboto"/>
              <a:ea typeface="Roboto"/>
              <a:cs typeface="Roboto"/>
              <a:sym typeface="Roboto"/>
            </a:endParaRPr>
          </a:p>
        </p:txBody>
      </p:sp>
      <p:sp>
        <p:nvSpPr>
          <p:cNvPr id="135" name="Google Shape;135;p20"/>
          <p:cNvSpPr txBox="1"/>
          <p:nvPr>
            <p:ph idx="1" type="body"/>
          </p:nvPr>
        </p:nvSpPr>
        <p:spPr>
          <a:xfrm>
            <a:off x="635750" y="3715121"/>
            <a:ext cx="8078400" cy="1066800"/>
          </a:xfrm>
          <a:prstGeom prst="rect">
            <a:avLst/>
          </a:prstGeom>
        </p:spPr>
        <p:txBody>
          <a:bodyPr anchorCtr="0" anchor="t" bIns="91425" lIns="91425" spcFirstLastPara="1" rIns="91425" wrap="square" tIns="91425">
            <a:noAutofit/>
          </a:bodyPr>
          <a:lstStyle/>
          <a:p>
            <a:pPr indent="-330200" lvl="0" marL="457200" rtl="0" algn="l">
              <a:lnSpc>
                <a:spcPct val="150000"/>
              </a:lnSpc>
              <a:spcBef>
                <a:spcPts val="0"/>
              </a:spcBef>
              <a:spcAft>
                <a:spcPts val="0"/>
              </a:spcAft>
              <a:buSzPts val="1600"/>
              <a:buChar char="●"/>
            </a:pPr>
            <a:r>
              <a:rPr lang="en" sz="1600"/>
              <a:t>Hệ thống </a:t>
            </a:r>
            <a:r>
              <a:rPr lang="en" sz="1600"/>
              <a:t>có thể dự đoán được vị trí đã bị chỉnh sửa và highlight. </a:t>
            </a:r>
            <a:endParaRPr sz="1600"/>
          </a:p>
          <a:p>
            <a:pPr indent="-330200" lvl="0" marL="457200" rtl="0" algn="l">
              <a:lnSpc>
                <a:spcPct val="150000"/>
              </a:lnSpc>
              <a:spcBef>
                <a:spcPts val="0"/>
              </a:spcBef>
              <a:spcAft>
                <a:spcPts val="0"/>
              </a:spcAft>
              <a:buSzPts val="1600"/>
              <a:buChar char="●"/>
            </a:pPr>
            <a:r>
              <a:rPr lang="en" sz="1600"/>
              <a:t>Chỉ số F1-Score &gt; 0.8.</a:t>
            </a:r>
            <a:endParaRPr sz="1600"/>
          </a:p>
          <a:p>
            <a:pPr indent="-330200" lvl="0" marL="457200" rtl="0" algn="l">
              <a:lnSpc>
                <a:spcPct val="150000"/>
              </a:lnSpc>
              <a:spcBef>
                <a:spcPts val="0"/>
              </a:spcBef>
              <a:spcAft>
                <a:spcPts val="0"/>
              </a:spcAft>
              <a:buSzPts val="1600"/>
              <a:buChar char="●"/>
            </a:pPr>
            <a:r>
              <a:rPr lang="en" sz="1600"/>
              <a:t>Thời gian xử lý ~1s cho mỗi hoá đơn.</a:t>
            </a:r>
            <a:endParaRPr sz="1600"/>
          </a:p>
        </p:txBody>
      </p:sp>
      <p:pic>
        <p:nvPicPr>
          <p:cNvPr id="136" name="Google Shape;136;p20"/>
          <p:cNvPicPr preferRelativeResize="0"/>
          <p:nvPr/>
        </p:nvPicPr>
        <p:blipFill>
          <a:blip r:embed="rId3">
            <a:alphaModFix/>
          </a:blip>
          <a:stretch>
            <a:fillRect/>
          </a:stretch>
        </p:blipFill>
        <p:spPr>
          <a:xfrm>
            <a:off x="4963100" y="711425"/>
            <a:ext cx="2590807" cy="2931476"/>
          </a:xfrm>
          <a:prstGeom prst="rect">
            <a:avLst/>
          </a:prstGeom>
          <a:noFill/>
          <a:ln>
            <a:noFill/>
          </a:ln>
        </p:spPr>
      </p:pic>
      <p:pic>
        <p:nvPicPr>
          <p:cNvPr id="137" name="Google Shape;137;p20"/>
          <p:cNvPicPr preferRelativeResize="0"/>
          <p:nvPr/>
        </p:nvPicPr>
        <p:blipFill>
          <a:blip r:embed="rId4">
            <a:alphaModFix/>
          </a:blip>
          <a:stretch>
            <a:fillRect/>
          </a:stretch>
        </p:blipFill>
        <p:spPr>
          <a:xfrm>
            <a:off x="949125" y="711425"/>
            <a:ext cx="2590807" cy="293147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3C47D"/>
        </a:solidFill>
      </p:bgPr>
    </p:bg>
    <p:spTree>
      <p:nvGrpSpPr>
        <p:cNvPr id="141" name="Shape 141"/>
        <p:cNvGrpSpPr/>
        <p:nvPr/>
      </p:nvGrpSpPr>
      <p:grpSpPr>
        <a:xfrm>
          <a:off x="0" y="0"/>
          <a:ext cx="0" cy="0"/>
          <a:chOff x="0" y="0"/>
          <a:chExt cx="0" cy="0"/>
        </a:xfrm>
      </p:grpSpPr>
      <p:sp>
        <p:nvSpPr>
          <p:cNvPr id="142" name="Google Shape;142;p21"/>
          <p:cNvSpPr txBox="1"/>
          <p:nvPr>
            <p:ph type="title"/>
          </p:nvPr>
        </p:nvSpPr>
        <p:spPr>
          <a:xfrm>
            <a:off x="471900" y="57875"/>
            <a:ext cx="8222100" cy="670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a:t>Tài liệu tham khảo</a:t>
            </a:r>
            <a:endParaRPr/>
          </a:p>
        </p:txBody>
      </p:sp>
      <p:sp>
        <p:nvSpPr>
          <p:cNvPr id="143" name="Google Shape;143;p21"/>
          <p:cNvSpPr txBox="1"/>
          <p:nvPr>
            <p:ph idx="1" type="body"/>
          </p:nvPr>
        </p:nvSpPr>
        <p:spPr>
          <a:xfrm>
            <a:off x="270600" y="1203750"/>
            <a:ext cx="8602800" cy="29616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400"/>
              <a:t>[1]. Ronneberger, O., Fischer, P., &amp; Brox, T. (2015). "U-Net: Convolutional Networks for Biomedical Image Segmentation." MICCAI</a:t>
            </a:r>
            <a:endParaRPr sz="1400"/>
          </a:p>
          <a:p>
            <a:pPr indent="0" lvl="0" marL="0" rtl="0" algn="l">
              <a:lnSpc>
                <a:spcPct val="150000"/>
              </a:lnSpc>
              <a:spcBef>
                <a:spcPts val="0"/>
              </a:spcBef>
              <a:spcAft>
                <a:spcPts val="0"/>
              </a:spcAft>
              <a:buNone/>
            </a:pPr>
            <a:r>
              <a:rPr lang="en" sz="1400"/>
              <a:t>[2]. Oktay, O., et al. (2018). "Attention U-Net: Learning Where to Look for the Pancreas." Medical Imaging with Deep Learning</a:t>
            </a:r>
            <a:endParaRPr sz="1400"/>
          </a:p>
          <a:p>
            <a:pPr indent="0" lvl="0" marL="0" rtl="0" algn="l">
              <a:lnSpc>
                <a:spcPct val="150000"/>
              </a:lnSpc>
              <a:spcBef>
                <a:spcPts val="0"/>
              </a:spcBef>
              <a:spcAft>
                <a:spcPts val="0"/>
              </a:spcAft>
              <a:buNone/>
            </a:pPr>
            <a:r>
              <a:rPr lang="en" sz="1400"/>
              <a:t>[3] Zhou, P., et al. (2018). "Learning Rich Features for Image Manipulation Detection." CVPR.</a:t>
            </a:r>
            <a:endParaRPr sz="1400"/>
          </a:p>
          <a:p>
            <a:pPr indent="0" lvl="0" marL="0" rtl="0" algn="l">
              <a:lnSpc>
                <a:spcPct val="150000"/>
              </a:lnSpc>
              <a:spcBef>
                <a:spcPts val="0"/>
              </a:spcBef>
              <a:spcAft>
                <a:spcPts val="0"/>
              </a:spcAft>
              <a:buNone/>
            </a:pPr>
            <a:r>
              <a:rPr lang="en" sz="1400"/>
              <a:t>[4] Bi, X., et al. (2019). "RRU-Net: The Ringed Residual U-Net for Image Splicing Forgery Detection." CVPR Workshop.</a:t>
            </a:r>
            <a:endParaRPr sz="1400"/>
          </a:p>
          <a:p>
            <a:pPr indent="0" lvl="0" marL="0" rtl="0" algn="l">
              <a:lnSpc>
                <a:spcPct val="150000"/>
              </a:lnSpc>
              <a:spcBef>
                <a:spcPts val="0"/>
              </a:spcBef>
              <a:spcAft>
                <a:spcPts val="0"/>
              </a:spcAft>
              <a:buNone/>
            </a:pPr>
            <a:r>
              <a:rPr lang="en" sz="1400"/>
              <a:t>[5] Kwon, M. J., et al. (2021). "CAT-Net: Compression Artifact Tracing Network for Detection and Localization of Image Splicing." NeurIPS. </a:t>
            </a:r>
            <a:endParaRPr sz="1400"/>
          </a:p>
          <a:p>
            <a:pPr indent="0" lvl="0" marL="457200" rtl="0" algn="l">
              <a:spcBef>
                <a:spcPts val="0"/>
              </a:spcBef>
              <a:spcAft>
                <a:spcPts val="0"/>
              </a:spcAft>
              <a:buNone/>
            </a:pPr>
            <a:r>
              <a:t/>
            </a:r>
            <a:endParaRPr sz="1400"/>
          </a:p>
          <a:p>
            <a:pPr indent="0" lvl="0" marL="457200" rtl="0" algn="l">
              <a:spcBef>
                <a:spcPts val="1600"/>
              </a:spcBef>
              <a:spcAft>
                <a:spcPts val="0"/>
              </a:spcAft>
              <a:buNone/>
            </a:pPr>
            <a:r>
              <a:t/>
            </a:r>
            <a:endParaRPr sz="1400"/>
          </a:p>
          <a:p>
            <a:pPr indent="0" lvl="0" marL="457200" rtl="0" algn="l">
              <a:spcBef>
                <a:spcPts val="1600"/>
              </a:spcBef>
              <a:spcAft>
                <a:spcPts val="0"/>
              </a:spcAft>
              <a:buNone/>
            </a:pPr>
            <a:r>
              <a:t/>
            </a:r>
            <a:endParaRPr sz="1400"/>
          </a:p>
          <a:p>
            <a:pPr indent="0" lvl="0" marL="914400" rtl="0" algn="l">
              <a:spcBef>
                <a:spcPts val="1600"/>
              </a:spcBef>
              <a:spcAft>
                <a:spcPts val="1600"/>
              </a:spcAft>
              <a:buNone/>
            </a:pPr>
            <a:r>
              <a:t/>
            </a:r>
            <a:endParaRPr sz="1400"/>
          </a:p>
        </p:txBody>
      </p:sp>
      <p:sp>
        <p:nvSpPr>
          <p:cNvPr id="144" name="Google Shape;144;p21"/>
          <p:cNvSpPr txBox="1"/>
          <p:nvPr>
            <p:ph idx="12" type="sldNum"/>
          </p:nvPr>
        </p:nvSpPr>
        <p:spPr>
          <a:xfrm>
            <a:off x="8523550" y="4813799"/>
            <a:ext cx="548700" cy="2754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terial - R01">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